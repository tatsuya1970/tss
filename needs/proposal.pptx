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23360"/>
            <a:ext cx="12188952" cy="109728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33087"/>
            <a:ext cx="12188952" cy="36576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48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8D5C2"/>
                </a:solidFill>
              </a:rPr>
              <a:t>株式会社テレビ新広島 御中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AI活用による地域情報収集・SNS分析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ソリューションのご提案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926080"/>
            <a:ext cx="5788152" cy="45720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07070"/>
                </a:solidFill>
              </a:rPr>
              <a:t>2026年3月26日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120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07070"/>
                </a:solidFill>
              </a:rPr>
              <a:t>Presented by TSS AIソリューション提案チーム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貴社の課題認識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5C2"/>
                </a:solidFill>
              </a:rPr>
              <a:t>現状の情報収集に潜む3つの壁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3611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25880"/>
            <a:ext cx="3611880" cy="91440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40280"/>
            <a:ext cx="3611880" cy="45720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53F"/>
                </a:solidFill>
              </a:rPr>
              <a:t>人力での情報収集に限界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</a:rPr>
              <a:t>広島県23市町の最新情報を
リサーチャーが毎回手動確認。
見落としや確認漏れが発生。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611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3611880" cy="91440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37160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40280"/>
            <a:ext cx="3611880" cy="45720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3317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53F"/>
                </a:solidFill>
              </a:rPr>
              <a:t>SNSデータを
報道に活かせていない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2900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</a:rPr>
              <a:t>地域の声・リアルタイム情報が
体系的に把握できておらず、
活用の手が止まっている。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325880"/>
            <a:ext cx="36118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325880"/>
            <a:ext cx="3611880" cy="91440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37160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2240280"/>
            <a:ext cx="3611880" cy="45720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331720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553F"/>
                </a:solidFill>
              </a:rPr>
              <a:t>情報の一元管理ツールが
存在しない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429000"/>
            <a:ext cx="3337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</a:rPr>
              <a:t>情報が分散しており、
優先度の判断やチームでの
迅速な共有が困難。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ソリューション全体像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5C2"/>
                </a:solidFill>
              </a:rPr>
              <a:t>2つのAIシステムで3つの課題を解決します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49240" cy="5029200"/>
          </a:xfrm>
          <a:prstGeom prst="rect">
            <a:avLst/>
          </a:prstGeom>
          <a:solidFill>
            <a:srgbClr val="E8F4F0"/>
          </a:solidFill>
          <a:ln w="19050">
            <a:solidFill>
              <a:srgbClr val="005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49240" cy="54864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07592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① 広島市町情報ダッシュボード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全23市町の公式サイトを自動巡回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7004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AIが記事を要約・分類・スコアリング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6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カテゴリ・期間・市町でフィルター表示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86784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過去記事の蓄積・時系列分析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074920"/>
            <a:ext cx="1417320" cy="384048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稼働中・デモ可能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834640"/>
            <a:ext cx="502920" cy="502920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834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42900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D52E31"/>
                </a:solidFill>
              </a:rPr>
              <a:t>統合も
可能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280160"/>
            <a:ext cx="5349240" cy="5029200"/>
          </a:xfrm>
          <a:prstGeom prst="rect">
            <a:avLst/>
          </a:prstGeom>
          <a:solidFill>
            <a:srgbClr val="FDF2F2"/>
          </a:solidFill>
          <a:ln w="19050">
            <a:solidFill>
              <a:srgbClr val="D5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280160"/>
            <a:ext cx="5349240" cy="548640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307592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② SNSトレンド可視化ツール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0116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X（旧Twitter）のリアルタイム投稿を収集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7004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地図上にヒートマップで可視化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3284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AIが他県地名の誤検知を自動除外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98678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Instagram連携の実装準備済み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5074920"/>
            <a:ext cx="1417320" cy="384048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50749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稼働中・デモ可能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① 広島市町情報ダッシュボード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5C2"/>
                </a:solidFill>
              </a:rPr>
              <a:t>全23市町の一次情報をAIが24時間自動収集・要約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49240" cy="2468880"/>
          </a:xfrm>
          <a:prstGeom prst="rect">
            <a:avLst/>
          </a:prstGeom>
          <a:solidFill>
            <a:srgbClr val="E8F4F0"/>
          </a:solidFill>
          <a:ln w="12700">
            <a:solidFill>
              <a:srgbClr val="005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49240" cy="438912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07592"/>
            <a:ext cx="5074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対応市町（全23市町）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5166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広島市・福山市・呉市・廿日市市・尾道市・東広島市・竹原市・三原市・府中市・三次市・庄原市・大竹市・安芸高田市・江田島市・府中町・海田町・熊野町・坂町・安芸太田町・北広島町・大崎上島町・世羅町・神石高原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5349240" cy="2423160"/>
          </a:xfrm>
          <a:prstGeom prst="rect">
            <a:avLst/>
          </a:prstGeom>
          <a:solidFill>
            <a:srgbClr val="E8F4F0"/>
          </a:solidFill>
          <a:ln w="12700">
            <a:solidFill>
              <a:srgbClr val="005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349240" cy="438912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913632"/>
            <a:ext cx="5074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AIによる自動分類カテゴリ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62272"/>
            <a:ext cx="1508760" cy="411480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4622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防災・安全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4462272"/>
            <a:ext cx="1508760" cy="411480"/>
          </a:xfrm>
          <a:prstGeom prst="rect">
            <a:avLst/>
          </a:prstGeom>
          <a:solidFill>
            <a:srgbClr val="1D7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94560" y="44622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福祉・医療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86200" y="4462272"/>
            <a:ext cx="1508760" cy="41148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86200" y="446227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経済・産業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10912"/>
            <a:ext cx="1508760" cy="411480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109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教育・文化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5010912"/>
            <a:ext cx="1508760" cy="41148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0109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インフラ・都市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6200" y="5010912"/>
            <a:ext cx="1508760" cy="41148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86200" y="501091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その他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280160"/>
            <a:ext cx="5760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80760" y="1280160"/>
            <a:ext cx="5760720" cy="438912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307592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主な機能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84708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新着情報を自動スクレイピング（重複排除）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30428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タイトルベースのAI要約＋重要度スコア（1〜5）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76148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市町・カテゴリ・日付範囲でのフィルター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218688"/>
            <a:ext cx="5486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過去記事の蓄積・トレンド時系列分析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886200"/>
            <a:ext cx="57607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3886200"/>
            <a:ext cx="5760720" cy="438912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913632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今後の拡張ロードマップ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462272"/>
            <a:ext cx="822960" cy="365760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4622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46227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広報資料（PDF等）の本文取得と詳細要約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038344"/>
            <a:ext cx="822960" cy="365760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03834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50608" y="503834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オープンデータポータルとの連携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614416"/>
            <a:ext cx="822960" cy="365760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61441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561441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記事本文全文を読んだ高精度な要約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② SNSトレンド可視化ツール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5C2"/>
                </a:solidFill>
              </a:rPr>
              <a:t>現場のリアルタイムな声を地図上で把握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11457432" cy="1325880"/>
          </a:xfrm>
          <a:prstGeom prst="rect">
            <a:avLst/>
          </a:prstGeom>
          <a:solidFill>
            <a:srgbClr val="E8F4F0"/>
          </a:solidFill>
          <a:ln w="12700">
            <a:solidFill>
              <a:srgbClr val="005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4864" cy="132588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5331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53F"/>
                </a:solidFill>
              </a:rPr>
              <a:t>X（旧Twitter）が持つ唯一の価値 ── リアルタイム性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情報量は少なくても「公式発表より早く現場の声が上がる」という点は他SNSで代替不可。イベント当日の混雑・速報・地域の盛り上がりを、いち早くキャッチできる。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5349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5349240" cy="43891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16352"/>
            <a:ext cx="5074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主な機能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地図ヒートマップ表示（熱量を直感的に把握）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67911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投稿数・いいね・RT数から盛り上がりスコア算出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9826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GPT-4oによる他県同名地名の誤検知除外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2861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イベント・グルメ・交通トラブル等を自動分類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5896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✓  元投稿URLをワンクリックで確認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788920"/>
            <a:ext cx="57607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60" y="2788920"/>
            <a:ext cx="5760720" cy="43891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816352"/>
            <a:ext cx="54864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SNS拡張ロードマップ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337560"/>
            <a:ext cx="868680" cy="38404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337560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稼働中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8" y="333756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X（旧Twitter）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33558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リアルタイム・速報性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041648"/>
            <a:ext cx="868680" cy="384048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04164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準備済み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404164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Instagram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272" y="4059935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グルメ・観光・イベントの盛り上がり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745736"/>
            <a:ext cx="868680" cy="384048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745736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今後対応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96328" y="474573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TikTok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4764023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若年層の地域情報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449824"/>
            <a:ext cx="868680" cy="384048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449824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今後対応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96328" y="544982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</a:rPr>
              <a:t>Googleクチコミ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54681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7070"/>
                </a:solidFill>
              </a:rPr>
              <a:t>飲食・観光スポットの声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統合オプション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5C2"/>
                </a:solidFill>
              </a:rPr>
              <a:t>2システムを1つの統合ダッシュボードにまとめることも可能です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534924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5349240" cy="50292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0759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分離構成（現行）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市町情報ダッシュボード（独立運用）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24328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SNSトレンドツール（独立運用）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82696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それぞれ単独での導入・運用が可能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41064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段階的な導入・予算分割に適している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99431"/>
            <a:ext cx="4983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既存システムへの影響が少ない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337560"/>
            <a:ext cx="667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07070"/>
                </a:solidFill>
              </a:rPr>
              <a:t>または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280160"/>
            <a:ext cx="5349240" cy="4572000"/>
          </a:xfrm>
          <a:prstGeom prst="rect">
            <a:avLst/>
          </a:prstGeom>
          <a:solidFill>
            <a:srgbClr val="FDF2F2"/>
          </a:solidFill>
          <a:ln w="25400">
            <a:solidFill>
              <a:srgbClr val="D5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280160"/>
            <a:ext cx="5349240" cy="502920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30759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統合構成（検討可能）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9659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公式新着情報＋SNSトレンドを同一画面に集約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2432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広島県版ニュース統合プラットフォーム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28269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リサーチャーが1画面で全情報を確認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941064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将来的な機能追加・拡張に対応しやすい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99431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─  AIアシスト機能の横断活用が可能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035040"/>
            <a:ext cx="11457432" cy="64008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108192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553F"/>
                </a:solidFill>
              </a:rPr>
              <a:t>導入規模・運用体制・ご予算に合わせて最適な構成をご提案します。ヒアリングの場でご要望をお聞かせください。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導入効果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D5C2"/>
                </a:solidFill>
              </a:rPr>
              <a:t>Before /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80160"/>
            <a:ext cx="2514600" cy="45720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07592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280160"/>
            <a:ext cx="3703320" cy="45720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307592"/>
            <a:ext cx="3520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現状（Before）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280160"/>
            <a:ext cx="5029200" cy="45720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13075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導入後（After）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2514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1828800"/>
            <a:ext cx="3703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0" y="182880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96596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53F"/>
                </a:solidFill>
              </a:rPr>
              <a:t>市町情報
の収集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79" y="1920240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7070"/>
                </a:solidFill>
              </a:rPr>
              <a:t>手動で各サイトを確認
見落としが発生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920240"/>
            <a:ext cx="4754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3F"/>
                </a:solidFill>
              </a:rPr>
              <a:t>AI自動収集・重要度スコアで
優先情報を即把握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25146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2926080"/>
            <a:ext cx="37033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0" y="2926080"/>
            <a:ext cx="50292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6324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53F"/>
                </a:solidFill>
              </a:rPr>
              <a:t>SNSの
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79" y="3017520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7070"/>
                </a:solidFill>
              </a:rPr>
              <a:t>個人任せ・体系的な
把握が困難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017520"/>
            <a:ext cx="4754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3F"/>
                </a:solidFill>
              </a:rPr>
              <a:t>地図で一目把握
リアルタイム更新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23360"/>
            <a:ext cx="25146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17520" y="4023360"/>
            <a:ext cx="37033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0" y="4023360"/>
            <a:ext cx="50292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16052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53F"/>
                </a:solidFill>
              </a:rPr>
              <a:t>情報の
一元管理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79" y="4114800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7070"/>
                </a:solidFill>
              </a:rPr>
              <a:t>情報が分散し
共有の手間が大きい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114800"/>
            <a:ext cx="4754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3F"/>
                </a:solidFill>
              </a:rPr>
              <a:t>ダッシュボードで集約
チームで即共有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120640"/>
            <a:ext cx="25146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17520" y="5120640"/>
            <a:ext cx="370332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5120640"/>
            <a:ext cx="50292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25780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553F"/>
                </a:solidFill>
              </a:rPr>
              <a:t>ネタ発掘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79" y="5212079"/>
            <a:ext cx="3429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7070"/>
                </a:solidFill>
              </a:rPr>
              <a:t>リサーチャーの
経験・勘に依存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5212079"/>
            <a:ext cx="47548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3F"/>
                </a:solidFill>
              </a:rPr>
              <a:t>AIが24時間自動モニタリング
見落としゼロへ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12188952" cy="102412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導入スケジュール・費用概算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50040" y="64922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920240" cy="65836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2026年
4月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38528"/>
            <a:ext cx="1920240" cy="13716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5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2996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デモ・ヒアリング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07070"/>
                </a:solidFill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280160"/>
            <a:ext cx="1920240" cy="658368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28016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2026年
5月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938528"/>
            <a:ext cx="1920240" cy="13716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5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02996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要件確定
本番環境構築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07070"/>
                </a:solidFill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280160"/>
            <a:ext cx="1920240" cy="658368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28016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2026年
6月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938528"/>
            <a:ext cx="1920240" cy="1371600"/>
          </a:xfrm>
          <a:prstGeom prst="rect">
            <a:avLst/>
          </a:prstGeom>
          <a:solidFill>
            <a:srgbClr val="F5F5F5"/>
          </a:solidFill>
          <a:ln w="19050">
            <a:solidFill>
              <a:srgbClr val="D52E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202996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Phase 1
本番稼働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07070"/>
                </a:solidFill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1280160"/>
            <a:ext cx="1920240" cy="658368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28016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2026年
8月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938528"/>
            <a:ext cx="1920240" cy="1371600"/>
          </a:xfrm>
          <a:prstGeom prst="rect">
            <a:avLst/>
          </a:prstGeom>
          <a:solidFill>
            <a:srgbClr val="F5F5F5"/>
          </a:solidFill>
          <a:ln w="19050">
            <a:solidFill>
              <a:srgbClr val="EFBA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202996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Phase 2
Instagram・広報資料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707070"/>
                </a:solidFill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1280160"/>
            <a:ext cx="1920240" cy="658368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128016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2026年
度内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938528"/>
            <a:ext cx="1920240" cy="1371600"/>
          </a:xfrm>
          <a:prstGeom prst="rect">
            <a:avLst/>
          </a:prstGeom>
          <a:solidFill>
            <a:srgbClr val="F5F5F5"/>
          </a:solidFill>
          <a:ln w="19050"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029968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</a:rPr>
              <a:t>Phase 3
オープンデータ等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657600"/>
            <a:ext cx="11457432" cy="45720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685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費用概算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0624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78240" y="4206240"/>
            <a:ext cx="30449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297679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初期開発・環境構築費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297679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7070"/>
                </a:solidFill>
              </a:rPr>
              <a:t>別途お見積もり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864607"/>
            <a:ext cx="84124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0" y="4864607"/>
            <a:ext cx="3044952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956047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月額運用費（サーバー・API利用料）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956047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7070"/>
                </a:solidFill>
              </a:rPr>
              <a:t>別途お見積もり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522975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78240" y="5522975"/>
            <a:ext cx="304495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614415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</a:rPr>
              <a:t>保守・機能追加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5614415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7070"/>
                </a:solidFill>
              </a:rPr>
              <a:t>別途ご相談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次のステップ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3200400" cy="36576"/>
          </a:xfrm>
          <a:prstGeom prst="rect">
            <a:avLst/>
          </a:prstGeom>
          <a:solidFill>
            <a:srgbClr val="EFB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822960" cy="1417320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63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プロトタイプデモのご案内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965960"/>
            <a:ext cx="10058400" cy="27432"/>
          </a:xfrm>
          <a:prstGeom prst="rect">
            <a:avLst/>
          </a:prstGeom>
          <a:solidFill>
            <a:srgbClr val="00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057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5C2"/>
                </a:solidFill>
              </a:rPr>
              <a:t>2つのシステムが実際に稼働しています。
実際の画面をご覧いただきながら、機能・操作感を直接ご確認いただけます。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63240"/>
            <a:ext cx="822960" cy="1417320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1071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54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ヒアリング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657600"/>
            <a:ext cx="10058400" cy="27432"/>
          </a:xfrm>
          <a:prstGeom prst="rect">
            <a:avLst/>
          </a:prstGeom>
          <a:solidFill>
            <a:srgbClr val="00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749039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5C2"/>
                </a:solidFill>
              </a:rPr>
              <a:t>現在のリサーチフロー・優先課題・運用体制をお聞かせください。
貴社の業務に最適な構成（分離 or 統合）をご提案します。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822960" cy="1417320"/>
          </a:xfrm>
          <a:prstGeom prst="rect">
            <a:avLst/>
          </a:prstGeom>
          <a:solidFill>
            <a:srgbClr val="D52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0235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46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要件定義・お見積もり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5349240"/>
            <a:ext cx="10058400" cy="27432"/>
          </a:xfrm>
          <a:prstGeom prst="rect">
            <a:avLst/>
          </a:prstGeom>
          <a:solidFill>
            <a:srgbClr val="008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54406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D5C2"/>
                </a:solidFill>
              </a:rPr>
              <a:t>ヒアリング内容をもとに、カスタマイズ範囲と
費用・スケジュールをご提示します。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